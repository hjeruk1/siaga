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8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 type="wide"/>
  <p:notesSz cx="6858000" cy="9144000"/>
  <p:defaultTextStyle>
    <a:defPPr>
      <a:defRPr lang="id-ID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Master" Target="slideMasters/slideMaster1.xml"/><Relationship Id="rId1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p_logo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p_logo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p_logo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p_logo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p_logo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p_logo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p_logo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p_logo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p_logo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p_logo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p_logo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p_logo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p_logo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p_logo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p_logo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p_logo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p_logo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94360" y="548640"/>
            <a:ext cx="2560320" cy="34747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txBody>
          <a:bodyPr wrap="square"/>
          <a:lstStyle/>
          <a:p>
            <a:pPr algn="ctr"/>
            <a:r>
              <a:rPr lang="id-ID" sz="1350" b="1">
                <a:solidFill>
                  <a:srgbClr val="B45309"/>
                </a:solidFill>
                <a:latin typeface="DM Sans"/>
              </a:rPr>
              <a:t>KBTK / PAUD Multi-Cabang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94360" y="1234440"/>
            <a:ext cx="6217920" cy="10515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6500" b="1">
                <a:solidFill>
                  <a:srgbClr val="0F172A"/>
                </a:solidFill>
                <a:latin typeface="DM Sans"/>
              </a:rPr>
              <a:t>SIAGA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58368" y="2148840"/>
            <a:ext cx="68580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300" b="0">
                <a:solidFill>
                  <a:srgbClr val="334155"/>
                </a:solidFill>
                <a:latin typeface="DM Sans"/>
              </a:rPr>
              <a:t>Sistem Informasi Administrasi &amp; Gestur Anak</a:t>
            </a:r>
          </a:p>
          <a:p>
            <a:pPr/>
            <a:r>
              <a:rPr lang="id-ID" sz="2300" b="0">
                <a:solidFill>
                  <a:srgbClr val="334155"/>
                </a:solidFill>
                <a:latin typeface="DM Sans"/>
              </a:rPr>
              <a:t>Proposal pengenalan dan adopsi untuk sekolah</a:t>
            </a:r>
          </a:p>
        </p:txBody>
      </p:sp>
      <p:cxnSp>
        <p:nvCxnSpPr>
          <p:cNvPr id="14" name="Line 14"/>
          <p:cNvCxnSpPr/>
          <p:nvPr/>
        </p:nvCxnSpPr>
        <p:spPr>
          <a:xfrm>
            <a:off x="658368" y="3246120"/>
            <a:ext cx="3730752" cy="0"/>
          </a:xfrm>
          <a:prstGeom prst="line">
            <a:avLst/>
          </a:prstGeom>
          <a:ln w="38100">
            <a:solidFill>
              <a:srgbClr val="F59E0B"/>
            </a:solidFill>
          </a:ln>
        </p:spPr>
      </p:cxnSp>
      <p:sp>
        <p:nvSpPr>
          <p:cNvPr id="15" name="TextBox 15"/>
          <p:cNvSpPr txBox="1"/>
          <p:nvPr/>
        </p:nvSpPr>
        <p:spPr>
          <a:xfrm>
            <a:off x="658368" y="3749039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64748B"/>
                </a:solidFill>
                <a:latin typeface="DM Sans"/>
              </a:rPr>
              <a:t>Pitch adopsi aplikasi untuk meningkatkan efisiensi operasional, layanan wali murid, dan kontrol multi-cabang.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43800" y="1051560"/>
            <a:ext cx="3291840" cy="3383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 wrap="square"/>
          <a:lstStyle/>
          <a:p>
            <a:pPr algn="ctr"/>
            <a:r>
              <a:rPr lang="id-ID" sz="2950" b="1">
                <a:solidFill>
                  <a:srgbClr val="FFFFFF"/>
                </a:solidFill>
                <a:latin typeface="DM Sans"/>
              </a:rPr>
              <a:t>Daily Record</a:t>
            </a:r>
          </a:p>
          <a:p>
            <a:pPr algn="ctr"/>
            <a:r>
              <a:rPr lang="id-ID" sz="2950" b="1">
                <a:solidFill>
                  <a:srgbClr val="FFFFFF"/>
                </a:solidFill>
                <a:latin typeface="DM Sans"/>
              </a:rPr>
              <a:t>Absensi</a:t>
            </a:r>
          </a:p>
          <a:p>
            <a:pPr algn="ctr"/>
            <a:r>
              <a:rPr lang="id-ID" sz="2950" b="1">
                <a:solidFill>
                  <a:srgbClr val="FFFFFF"/>
                </a:solidFill>
                <a:latin typeface="DM Sans"/>
              </a:rPr>
              <a:t>Gerbang</a:t>
            </a:r>
          </a:p>
          <a:p>
            <a:pPr algn="ctr"/>
            <a:r>
              <a:rPr lang="id-ID" sz="2950" b="1">
                <a:solidFill>
                  <a:srgbClr val="FFFFFF"/>
                </a:solidFill>
                <a:latin typeface="DM Sans"/>
              </a:rPr>
              <a:t>Billing</a:t>
            </a:r>
          </a:p>
          <a:p>
            <a:pPr algn="ctr"/>
            <a:r>
              <a:rPr lang="id-ID" sz="2950" b="1">
                <a:solidFill>
                  <a:srgbClr val="FFFFFF"/>
                </a:solidFill>
                <a:latin typeface="DM Sans"/>
              </a:rPr>
              <a:t>Portal Wali</a:t>
            </a:r>
          </a:p>
        </p:txBody>
      </p:sp>
      <p:pic>
        <p:nvPicPr>
          <p:cNvPr id="4" name="t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28600"/>
            <a:ext cx="150876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2920" y="310896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1500" b="1">
                <a:solidFill>
                  <a:srgbClr val="F59E0B"/>
                </a:solidFill>
                <a:latin typeface="DM Sans"/>
              </a:rPr>
              <a:t>SIAGA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2920" y="621792"/>
            <a:ext cx="9875520" cy="56692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950" b="1">
                <a:solidFill>
                  <a:srgbClr val="0F172A"/>
                </a:solidFill>
                <a:latin typeface="DM Sans"/>
              </a:rPr>
              <a:t>Kenapa Sekolah Perlu Berubah Sekarang</a:t>
            </a:r>
          </a:p>
        </p:txBody>
      </p:sp>
      <p:cxnSp>
        <p:nvCxnSpPr>
          <p:cNvPr id="13" name="Line 13"/>
          <p:cNvCxnSpPr/>
          <p:nvPr/>
        </p:nvCxnSpPr>
        <p:spPr>
          <a:xfrm>
            <a:off x="502920" y="1207008"/>
            <a:ext cx="10972800" cy="0"/>
          </a:xfrm>
          <a:prstGeom prst="line">
            <a:avLst/>
          </a:prstGeom>
          <a:ln w="12700">
            <a:solidFill>
              <a:srgbClr val="E2E8F0"/>
            </a:solidFill>
          </a:ln>
        </p:spPr>
      </p:cxnSp>
      <p:pic>
        <p:nvPicPr>
          <p:cNvPr id="4" name="t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28600"/>
            <a:ext cx="1508760" cy="50292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822960" y="143560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3000" y="138988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Operasional harian sekolah makin kompleks: absensi, penjemputan, laporan anak, billing, dan komunikasi wali berjalan paralel.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2960" y="193852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3000" y="189280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Proses manual membuat data tersebar di buku, chat, spreadsheet, dan ingatan staff.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2960" y="244144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43000" y="239572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Biaya cetak dan administrasi berulang tampak kecil per item, tetapi besar saat dikalikan jumlah siswa, cabang, dan bulan.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22960" y="294436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43000" y="289864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Ekspektasi wali murid makin tinggi: update cepat, rapi, dan bisa ditelusuri.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012680" y="589788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id-ID" sz="1050" b="0">
                <a:solidFill>
                  <a:srgbClr val="64748B"/>
                </a:solidFill>
                <a:latin typeface="DM Sans"/>
              </a:rPr>
              <a:t>2/17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2920" y="310896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1500" b="1">
                <a:solidFill>
                  <a:srgbClr val="F59E0B"/>
                </a:solidFill>
                <a:latin typeface="DM Sans"/>
              </a:rPr>
              <a:t>SIAGA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2920" y="621792"/>
            <a:ext cx="9875520" cy="56692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950" b="1">
                <a:solidFill>
                  <a:srgbClr val="0F172A"/>
                </a:solidFill>
                <a:latin typeface="DM Sans"/>
              </a:rPr>
              <a:t>SIAGA dalam Satu Kalimat</a:t>
            </a:r>
          </a:p>
        </p:txBody>
      </p:sp>
      <p:cxnSp>
        <p:nvCxnSpPr>
          <p:cNvPr id="13" name="Line 13"/>
          <p:cNvCxnSpPr/>
          <p:nvPr/>
        </p:nvCxnSpPr>
        <p:spPr>
          <a:xfrm>
            <a:off x="502920" y="1207008"/>
            <a:ext cx="10972800" cy="0"/>
          </a:xfrm>
          <a:prstGeom prst="line">
            <a:avLst/>
          </a:prstGeom>
          <a:ln w="12700">
            <a:solidFill>
              <a:srgbClr val="E2E8F0"/>
            </a:solidFill>
          </a:ln>
        </p:spPr>
      </p:cxnSp>
      <p:pic>
        <p:nvPicPr>
          <p:cNvPr id="4" name="t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28600"/>
            <a:ext cx="1508760" cy="50292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822960" y="1645920"/>
            <a:ext cx="10058400" cy="12801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700" b="0">
                <a:solidFill>
                  <a:srgbClr val="334155"/>
                </a:solidFill>
                <a:latin typeface="DM Sans"/>
              </a:rPr>
              <a:t>SIAGA adalah aplikasi operasional sekolah terpadu yang menyatukan absensi, gerbang penjemputan, daily record, portal wali, billing, monitoring kepala sekolah, dan audit log untuk banyak cabang dalam satu server.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77240" y="5212080"/>
            <a:ext cx="10607040" cy="5943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txBody>
          <a:bodyPr wrap="square"/>
          <a:lstStyle/>
          <a:p>
            <a:pPr algn="ctr"/>
            <a:r>
              <a:rPr lang="id-ID" sz="1650" b="1">
                <a:solidFill>
                  <a:srgbClr val="B45309"/>
                </a:solidFill>
                <a:latin typeface="DM Sans"/>
              </a:rPr>
              <a:t>Satu data. Satu alur kerja. Semua cabang terkendali.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012680" y="589788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id-ID" sz="1050" b="0">
                <a:solidFill>
                  <a:srgbClr val="64748B"/>
                </a:solidFill>
                <a:latin typeface="DM Sans"/>
              </a:rPr>
              <a:t>3/17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2920" y="310896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1500" b="1">
                <a:solidFill>
                  <a:srgbClr val="F59E0B"/>
                </a:solidFill>
                <a:latin typeface="DM Sans"/>
              </a:rPr>
              <a:t>SIAGA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2920" y="621792"/>
            <a:ext cx="9875520" cy="56692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950" b="1">
                <a:solidFill>
                  <a:srgbClr val="0F172A"/>
                </a:solidFill>
                <a:latin typeface="DM Sans"/>
              </a:rPr>
              <a:t>Alur Operasional yang Disatukan</a:t>
            </a:r>
          </a:p>
        </p:txBody>
      </p:sp>
      <p:cxnSp>
        <p:nvCxnSpPr>
          <p:cNvPr id="13" name="Line 13"/>
          <p:cNvCxnSpPr/>
          <p:nvPr/>
        </p:nvCxnSpPr>
        <p:spPr>
          <a:xfrm>
            <a:off x="502920" y="1207008"/>
            <a:ext cx="10972800" cy="0"/>
          </a:xfrm>
          <a:prstGeom prst="line">
            <a:avLst/>
          </a:prstGeom>
          <a:ln w="12700">
            <a:solidFill>
              <a:srgbClr val="E2E8F0"/>
            </a:solidFill>
          </a:ln>
        </p:spPr>
      </p:cxnSp>
      <p:pic>
        <p:nvPicPr>
          <p:cNvPr id="4" name="t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28600"/>
            <a:ext cx="1508760" cy="50292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822960" y="143560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3000" y="138988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Admin: cabang, siswa, staff, wali, rombel, tarif, billing, invoice, audit.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2960" y="193852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3000" y="189280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Guru: absensi, daily record, Focus Theme, observasi anak, publish ke wali.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2960" y="244144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43000" y="239572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Kepala sekolah: monitoring harian, laporan daily record, notifikasi, keuangan.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22960" y="294436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43000" y="289864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Gerbang: scan QR penjemput dan serah-terima pulang.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22960" y="344728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43000" y="340156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Wali murid: melihat laporan anak, foto, feedback, notifikasi, dan tagihan.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22960" y="4343400"/>
            <a:ext cx="1600200" cy="50292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 algn="ctr"/>
            <a:r>
              <a:rPr lang="id-ID" sz="1550" b="1">
                <a:solidFill>
                  <a:srgbClr val="FFFFFF"/>
                </a:solidFill>
                <a:latin typeface="DM Sans"/>
              </a:rPr>
              <a:t>Admin</a:t>
            </a:r>
          </a:p>
        </p:txBody>
      </p:sp>
      <p:cxnSp>
        <p:nvCxnSpPr>
          <p:cNvPr id="25" name="Line 25"/>
          <p:cNvCxnSpPr/>
          <p:nvPr/>
        </p:nvCxnSpPr>
        <p:spPr>
          <a:xfrm>
            <a:off x="2423160" y="4599432"/>
            <a:ext cx="393192" cy="0"/>
          </a:xfrm>
          <a:prstGeom prst="line">
            <a:avLst/>
          </a:prstGeom>
          <a:ln w="12700">
            <a:solidFill>
              <a:srgbClr val="94A3B8"/>
            </a:solidFill>
          </a:ln>
        </p:spPr>
      </p:cxnSp>
      <p:sp>
        <p:nvSpPr>
          <p:cNvPr id="26" name="TextBox 26"/>
          <p:cNvSpPr txBox="1"/>
          <p:nvPr/>
        </p:nvSpPr>
        <p:spPr>
          <a:xfrm>
            <a:off x="2971800" y="4343400"/>
            <a:ext cx="1600200" cy="5029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/>
          <a:lstStyle/>
          <a:p>
            <a:pPr algn="ctr"/>
            <a:r>
              <a:rPr lang="id-ID" sz="1550" b="1">
                <a:solidFill>
                  <a:srgbClr val="FFFFFF"/>
                </a:solidFill>
                <a:latin typeface="DM Sans"/>
              </a:rPr>
              <a:t>Guru</a:t>
            </a:r>
          </a:p>
        </p:txBody>
      </p:sp>
      <p:cxnSp>
        <p:nvCxnSpPr>
          <p:cNvPr id="27" name="Line 27"/>
          <p:cNvCxnSpPr/>
          <p:nvPr/>
        </p:nvCxnSpPr>
        <p:spPr>
          <a:xfrm>
            <a:off x="4572000" y="4599432"/>
            <a:ext cx="393192" cy="0"/>
          </a:xfrm>
          <a:prstGeom prst="line">
            <a:avLst/>
          </a:prstGeom>
          <a:ln w="12700">
            <a:solidFill>
              <a:srgbClr val="94A3B8"/>
            </a:solidFill>
          </a:ln>
        </p:spPr>
      </p:cxnSp>
      <p:sp>
        <p:nvSpPr>
          <p:cNvPr id="28" name="TextBox 28"/>
          <p:cNvSpPr txBox="1"/>
          <p:nvPr/>
        </p:nvSpPr>
        <p:spPr>
          <a:xfrm>
            <a:off x="5120640" y="4343400"/>
            <a:ext cx="1600200" cy="502920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  <p:txBody>
          <a:bodyPr wrap="square"/>
          <a:lstStyle/>
          <a:p>
            <a:pPr algn="ctr"/>
            <a:r>
              <a:rPr lang="id-ID" sz="1550" b="1">
                <a:solidFill>
                  <a:srgbClr val="FFFFFF"/>
                </a:solidFill>
                <a:latin typeface="DM Sans"/>
              </a:rPr>
              <a:t>Kepsek</a:t>
            </a:r>
          </a:p>
        </p:txBody>
      </p:sp>
      <p:cxnSp>
        <p:nvCxnSpPr>
          <p:cNvPr id="29" name="Line 29"/>
          <p:cNvCxnSpPr/>
          <p:nvPr/>
        </p:nvCxnSpPr>
        <p:spPr>
          <a:xfrm>
            <a:off x="6720840" y="4599432"/>
            <a:ext cx="393192" cy="0"/>
          </a:xfrm>
          <a:prstGeom prst="line">
            <a:avLst/>
          </a:prstGeom>
          <a:ln w="12700">
            <a:solidFill>
              <a:srgbClr val="94A3B8"/>
            </a:solidFill>
          </a:ln>
        </p:spPr>
      </p:cxnSp>
      <p:sp>
        <p:nvSpPr>
          <p:cNvPr id="30" name="TextBox 30"/>
          <p:cNvSpPr txBox="1"/>
          <p:nvPr/>
        </p:nvSpPr>
        <p:spPr>
          <a:xfrm>
            <a:off x="7269480" y="4343400"/>
            <a:ext cx="1600200" cy="50292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txBody>
          <a:bodyPr wrap="square"/>
          <a:lstStyle/>
          <a:p>
            <a:pPr algn="ctr"/>
            <a:r>
              <a:rPr lang="id-ID" sz="1550" b="1">
                <a:solidFill>
                  <a:srgbClr val="FFFFFF"/>
                </a:solidFill>
                <a:latin typeface="DM Sans"/>
              </a:rPr>
              <a:t>Gerbang</a:t>
            </a:r>
          </a:p>
        </p:txBody>
      </p:sp>
      <p:cxnSp>
        <p:nvCxnSpPr>
          <p:cNvPr id="31" name="Line 31"/>
          <p:cNvCxnSpPr/>
          <p:nvPr/>
        </p:nvCxnSpPr>
        <p:spPr>
          <a:xfrm>
            <a:off x="8869680" y="4599432"/>
            <a:ext cx="393192" cy="0"/>
          </a:xfrm>
          <a:prstGeom prst="line">
            <a:avLst/>
          </a:prstGeom>
          <a:ln w="12700">
            <a:solidFill>
              <a:srgbClr val="94A3B8"/>
            </a:solidFill>
          </a:ln>
        </p:spPr>
      </p:cxnSp>
      <p:sp>
        <p:nvSpPr>
          <p:cNvPr id="32" name="TextBox 32"/>
          <p:cNvSpPr txBox="1"/>
          <p:nvPr/>
        </p:nvSpPr>
        <p:spPr>
          <a:xfrm>
            <a:off x="9418320" y="4343400"/>
            <a:ext cx="1600200" cy="502920"/>
          </a:xfrm>
          <a:prstGeom prst="roundRect">
            <a:avLst/>
          </a:prstGeom>
          <a:solidFill>
            <a:srgbClr val="B45309"/>
          </a:solidFill>
          <a:ln w="12700">
            <a:solidFill>
              <a:srgbClr val="B45309"/>
            </a:solidFill>
          </a:ln>
        </p:spPr>
        <p:txBody>
          <a:bodyPr wrap="square"/>
          <a:lstStyle/>
          <a:p>
            <a:pPr algn="ctr"/>
            <a:r>
              <a:rPr lang="id-ID" sz="1550" b="1">
                <a:solidFill>
                  <a:srgbClr val="FFFFFF"/>
                </a:solidFill>
                <a:latin typeface="DM Sans"/>
              </a:rPr>
              <a:t>Wali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012680" y="589788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id-ID" sz="1050" b="0">
                <a:solidFill>
                  <a:srgbClr val="64748B"/>
                </a:solidFill>
                <a:latin typeface="DM Sans"/>
              </a:rPr>
              <a:t>4/17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2920" y="310896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1500" b="1">
                <a:solidFill>
                  <a:srgbClr val="F59E0B"/>
                </a:solidFill>
                <a:latin typeface="DM Sans"/>
              </a:rPr>
              <a:t>SIAGA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2920" y="621792"/>
            <a:ext cx="9875520" cy="56692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950" b="1">
                <a:solidFill>
                  <a:srgbClr val="0F172A"/>
                </a:solidFill>
                <a:latin typeface="DM Sans"/>
              </a:rPr>
              <a:t>Daily Record Digital: Dari Buku ke Data</a:t>
            </a:r>
          </a:p>
        </p:txBody>
      </p:sp>
      <p:cxnSp>
        <p:nvCxnSpPr>
          <p:cNvPr id="13" name="Line 13"/>
          <p:cNvCxnSpPr/>
          <p:nvPr/>
        </p:nvCxnSpPr>
        <p:spPr>
          <a:xfrm>
            <a:off x="502920" y="1207008"/>
            <a:ext cx="10972800" cy="0"/>
          </a:xfrm>
          <a:prstGeom prst="line">
            <a:avLst/>
          </a:prstGeom>
          <a:ln w="12700">
            <a:solidFill>
              <a:srgbClr val="E2E8F0"/>
            </a:solidFill>
          </a:ln>
        </p:spPr>
      </p:cxnSp>
      <p:pic>
        <p:nvPicPr>
          <p:cNvPr id="4" name="t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28600"/>
            <a:ext cx="1508760" cy="50292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822960" y="143560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3000" y="138988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Guru mengisi mood, makan, tidur, aktivitas, observasi, catatan, foto, dan publish ke wali.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2960" y="193852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3000" y="189280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Daily Record V2 wajib terkait Focus Theme agar laporan tidak generic.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2960" y="244144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43000" y="239572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Wali hanya melihat laporan yang sudah published, dan dapat memberi feedback.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22960" y="294436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43000" y="289864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Riwayat tetap tersimpan dan dapat ditelusuri lintas waktu.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77240" y="5212080"/>
            <a:ext cx="10607040" cy="5943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txBody>
          <a:bodyPr wrap="square"/>
          <a:lstStyle/>
          <a:p>
            <a:pPr algn="ctr"/>
            <a:r>
              <a:rPr lang="id-ID" sz="1650" b="1">
                <a:solidFill>
                  <a:srgbClr val="B45309"/>
                </a:solidFill>
                <a:latin typeface="DM Sans"/>
              </a:rPr>
              <a:t>Bukan sekadar mengganti buku: SIAGA mengubah daily record menjadi arsip perkembangan anak.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012680" y="589788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id-ID" sz="1050" b="0">
                <a:solidFill>
                  <a:srgbClr val="64748B"/>
                </a:solidFill>
                <a:latin typeface="DM Sans"/>
              </a:rPr>
              <a:t>5/17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2920" y="310896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1500" b="1">
                <a:solidFill>
                  <a:srgbClr val="F59E0B"/>
                </a:solidFill>
                <a:latin typeface="DM Sans"/>
              </a:rPr>
              <a:t>SIAGA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2920" y="621792"/>
            <a:ext cx="9875520" cy="56692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950" b="1">
                <a:solidFill>
                  <a:srgbClr val="0F172A"/>
                </a:solidFill>
                <a:latin typeface="DM Sans"/>
              </a:rPr>
              <a:t>Focus Theme &amp; Modul Ajar</a:t>
            </a:r>
          </a:p>
        </p:txBody>
      </p:sp>
      <p:cxnSp>
        <p:nvCxnSpPr>
          <p:cNvPr id="13" name="Line 13"/>
          <p:cNvCxnSpPr/>
          <p:nvPr/>
        </p:nvCxnSpPr>
        <p:spPr>
          <a:xfrm>
            <a:off x="502920" y="1207008"/>
            <a:ext cx="10972800" cy="0"/>
          </a:xfrm>
          <a:prstGeom prst="line">
            <a:avLst/>
          </a:prstGeom>
          <a:ln w="12700">
            <a:solidFill>
              <a:srgbClr val="E2E8F0"/>
            </a:solidFill>
          </a:ln>
        </p:spPr>
      </p:cxnSp>
      <p:pic>
        <p:nvPicPr>
          <p:cNvPr id="4" name="t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28600"/>
            <a:ext cx="1508760" cy="50292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822960" y="143560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3000" y="138988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Modul ajar mingguan menjadi sumber rencana kegiatan kelas.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2960" y="193852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3000" y="189280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Focus Theme harian diterapkan per rombel agar laporan anak selaras dengan kegiatan kelas.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2960" y="244144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43000" y="239572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Akses edit dibatasi: admin, kepala sekolah, dan guru utama sesuai rombel/jenjang.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22960" y="294436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43000" y="289864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Membantu menjaga konsistensi kurikulum antar kelas dan cabang.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012680" y="589788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id-ID" sz="1050" b="0">
                <a:solidFill>
                  <a:srgbClr val="64748B"/>
                </a:solidFill>
                <a:latin typeface="DM Sans"/>
              </a:rPr>
              <a:t>6/17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2920" y="310896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1500" b="1">
                <a:solidFill>
                  <a:srgbClr val="F59E0B"/>
                </a:solidFill>
                <a:latin typeface="DM Sans"/>
              </a:rPr>
              <a:t>SIAGA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2920" y="621792"/>
            <a:ext cx="9875520" cy="56692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950" b="1">
                <a:solidFill>
                  <a:srgbClr val="0F172A"/>
                </a:solidFill>
                <a:latin typeface="DM Sans"/>
              </a:rPr>
              <a:t>Absensi &amp; Gerbang Penjemputan</a:t>
            </a:r>
          </a:p>
        </p:txBody>
      </p:sp>
      <p:cxnSp>
        <p:nvCxnSpPr>
          <p:cNvPr id="13" name="Line 13"/>
          <p:cNvCxnSpPr/>
          <p:nvPr/>
        </p:nvCxnSpPr>
        <p:spPr>
          <a:xfrm>
            <a:off x="502920" y="1207008"/>
            <a:ext cx="10972800" cy="0"/>
          </a:xfrm>
          <a:prstGeom prst="line">
            <a:avLst/>
          </a:prstGeom>
          <a:ln w="12700">
            <a:solidFill>
              <a:srgbClr val="E2E8F0"/>
            </a:solidFill>
          </a:ln>
        </p:spPr>
      </p:cxnSp>
      <p:pic>
        <p:nvPicPr>
          <p:cNvPr id="4" name="t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28600"/>
            <a:ext cx="1508760" cy="50292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822960" y="143560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3000" y="138988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Status kehadiran mengikuti alur: Belum, Hadir/Terlambat, Menunggu, Pulang, Izin, Sakit, Absen, Libur.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2960" y="193852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3000" y="189280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QR penjemput membantu pos gerbang mencatat siapa yang menjemput dan kapan.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2960" y="244144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43000" y="239572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Tutup hari mengubah siswa yang belum diproses menjadi Absen secara terkendali.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22960" y="294436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43000" y="289864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Monitoring red flag membantu kepala sekolah melihat anak yang terlalu lama menunggu.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012680" y="589788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id-ID" sz="1050" b="0">
                <a:solidFill>
                  <a:srgbClr val="64748B"/>
                </a:solidFill>
                <a:latin typeface="DM Sans"/>
              </a:rPr>
              <a:t>7/17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2920" y="310896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1500" b="1">
                <a:solidFill>
                  <a:srgbClr val="F59E0B"/>
                </a:solidFill>
                <a:latin typeface="DM Sans"/>
              </a:rPr>
              <a:t>SIAGA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2920" y="621792"/>
            <a:ext cx="9875520" cy="56692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950" b="1">
                <a:solidFill>
                  <a:srgbClr val="0F172A"/>
                </a:solidFill>
                <a:latin typeface="DM Sans"/>
              </a:rPr>
              <a:t>Portal Wali Murid</a:t>
            </a:r>
          </a:p>
        </p:txBody>
      </p:sp>
      <p:cxnSp>
        <p:nvCxnSpPr>
          <p:cNvPr id="13" name="Line 13"/>
          <p:cNvCxnSpPr/>
          <p:nvPr/>
        </p:nvCxnSpPr>
        <p:spPr>
          <a:xfrm>
            <a:off x="502920" y="1207008"/>
            <a:ext cx="10972800" cy="0"/>
          </a:xfrm>
          <a:prstGeom prst="line">
            <a:avLst/>
          </a:prstGeom>
          <a:ln w="12700">
            <a:solidFill>
              <a:srgbClr val="E2E8F0"/>
            </a:solidFill>
          </a:ln>
        </p:spPr>
      </p:cxnSp>
      <p:pic>
        <p:nvPicPr>
          <p:cNvPr id="4" name="t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28600"/>
            <a:ext cx="1508760" cy="50292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822960" y="143560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3000" y="138988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Wali melihat daily record published, foto, aktivitas, observasi, dan komentar.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2960" y="193852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3000" y="189280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Wali bisa memberi feedback tanpa mencampur percakapan operasional di grup chat.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2960" y="244144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43000" y="239572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Notifikasi membantu wali tahu kapan laporan baru tersedia.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22960" y="294436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43000" y="289864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Akses wali dibatasi hanya ke anak yang terhubung.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012680" y="589788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id-ID" sz="1050" b="0">
                <a:solidFill>
                  <a:srgbClr val="64748B"/>
                </a:solidFill>
                <a:latin typeface="DM Sans"/>
              </a:rPr>
              <a:t>8/17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2920" y="310896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1500" b="1">
                <a:solidFill>
                  <a:srgbClr val="F59E0B"/>
                </a:solidFill>
                <a:latin typeface="DM Sans"/>
              </a:rPr>
              <a:t>SIAGA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2920" y="621792"/>
            <a:ext cx="9875520" cy="56692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950" b="1">
                <a:solidFill>
                  <a:srgbClr val="0F172A"/>
                </a:solidFill>
                <a:latin typeface="DM Sans"/>
              </a:rPr>
              <a:t>Billing, Invoice, dan Pembayaran</a:t>
            </a:r>
          </a:p>
        </p:txBody>
      </p:sp>
      <p:cxnSp>
        <p:nvCxnSpPr>
          <p:cNvPr id="13" name="Line 13"/>
          <p:cNvCxnSpPr/>
          <p:nvPr/>
        </p:nvCxnSpPr>
        <p:spPr>
          <a:xfrm>
            <a:off x="502920" y="1207008"/>
            <a:ext cx="10972800" cy="0"/>
          </a:xfrm>
          <a:prstGeom prst="line">
            <a:avLst/>
          </a:prstGeom>
          <a:ln w="12700">
            <a:solidFill>
              <a:srgbClr val="E2E8F0"/>
            </a:solidFill>
          </a:ln>
        </p:spPr>
      </p:cxnSp>
      <p:pic>
        <p:nvPicPr>
          <p:cNvPr id="4" name="t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28600"/>
            <a:ext cx="1508760" cy="50292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822960" y="143560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3000" y="138988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Tarif per cabang, jenjang, paket, dan tahun ajaran.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2960" y="193852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3000" y="189280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Generate tagihan dengan preview, diskon, prorata, koreksi, invoice, dan kuitansi PDF.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2960" y="244144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43000" y="239572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Pembayaran parsial dan alokasi FIFO ke tagihan tertua.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22960" y="294436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43000" y="289864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Saldo kredit menjaga kelebihan pembayaran tetap tercatat.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012680" y="589788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id-ID" sz="1050" b="0">
                <a:solidFill>
                  <a:srgbClr val="64748B"/>
                </a:solidFill>
                <a:latin typeface="DM Sans"/>
              </a:rPr>
              <a:t>9/17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2920" y="310896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1500" b="1">
                <a:solidFill>
                  <a:srgbClr val="F59E0B"/>
                </a:solidFill>
                <a:latin typeface="DM Sans"/>
              </a:rPr>
              <a:t>SIAGA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2920" y="621792"/>
            <a:ext cx="9875520" cy="56692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950" b="1">
                <a:solidFill>
                  <a:srgbClr val="0F172A"/>
                </a:solidFill>
                <a:latin typeface="DM Sans"/>
              </a:rPr>
              <a:t>Keamanan dan Kontrol Manajemen</a:t>
            </a:r>
          </a:p>
        </p:txBody>
      </p:sp>
      <p:cxnSp>
        <p:nvCxnSpPr>
          <p:cNvPr id="13" name="Line 13"/>
          <p:cNvCxnSpPr/>
          <p:nvPr/>
        </p:nvCxnSpPr>
        <p:spPr>
          <a:xfrm>
            <a:off x="502920" y="1207008"/>
            <a:ext cx="10972800" cy="0"/>
          </a:xfrm>
          <a:prstGeom prst="line">
            <a:avLst/>
          </a:prstGeom>
          <a:ln w="12700">
            <a:solidFill>
              <a:srgbClr val="E2E8F0"/>
            </a:solidFill>
          </a:ln>
        </p:spPr>
      </p:cxnSp>
      <p:pic>
        <p:nvPicPr>
          <p:cNvPr id="4" name="t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28600"/>
            <a:ext cx="1508760" cy="50292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822960" y="143560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3000" y="138988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Role-Based Access Control: admin, admin cabang, kepsek, guru, gerbang, wali.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2960" y="193852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3000" y="189280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Data cabang terisolasi; admin pusat tetap bisa melihat seluruh cabang.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2960" y="244144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43000" y="239572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Audit log mencatat aktivitas penting untuk akuntabilitas.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22960" y="294436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43000" y="289864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Query database memakai prepared statements dan scoping akses dinamis.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77240" y="5212080"/>
            <a:ext cx="10607040" cy="5943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txBody>
          <a:bodyPr wrap="square"/>
          <a:lstStyle/>
          <a:p>
            <a:pPr algn="ctr"/>
            <a:r>
              <a:rPr lang="id-ID" sz="1650" b="1">
                <a:solidFill>
                  <a:srgbClr val="B45309"/>
                </a:solidFill>
                <a:latin typeface="DM Sans"/>
              </a:rPr>
              <a:t>Keamanan bukan fitur tambahan. Untuk data anak, ini syarat dasar.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012680" y="589788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id-ID" sz="1050" b="0">
                <a:solidFill>
                  <a:srgbClr val="64748B"/>
                </a:solidFill>
                <a:latin typeface="DM Sans"/>
              </a:rPr>
              <a:t>10/17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2920" y="310896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1500" b="1">
                <a:solidFill>
                  <a:srgbClr val="F59E0B"/>
                </a:solidFill>
                <a:latin typeface="DM Sans"/>
              </a:rPr>
              <a:t>SIAGA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2920" y="621792"/>
            <a:ext cx="9875520" cy="56692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950" b="1">
                <a:solidFill>
                  <a:srgbClr val="0F172A"/>
                </a:solidFill>
                <a:latin typeface="DM Sans"/>
              </a:rPr>
              <a:t>Biaya Manual yang Sering Tidak Terlihat</a:t>
            </a:r>
          </a:p>
        </p:txBody>
      </p:sp>
      <p:cxnSp>
        <p:nvCxnSpPr>
          <p:cNvPr id="13" name="Line 13"/>
          <p:cNvCxnSpPr/>
          <p:nvPr/>
        </p:nvCxnSpPr>
        <p:spPr>
          <a:xfrm>
            <a:off x="502920" y="1207008"/>
            <a:ext cx="10972800" cy="0"/>
          </a:xfrm>
          <a:prstGeom prst="line">
            <a:avLst/>
          </a:prstGeom>
          <a:ln w="12700">
            <a:solidFill>
              <a:srgbClr val="E2E8F0"/>
            </a:solidFill>
          </a:ln>
        </p:spPr>
      </p:cxnSp>
      <p:pic>
        <p:nvPicPr>
          <p:cNvPr id="4" name="t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28600"/>
            <a:ext cx="1508760" cy="50292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822960" y="143560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3000" y="138988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Contoh biaya buku daily record hard copy: Rp50.000 per buku.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2960" y="193852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3000" y="189280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Asumsi minimum: 20 siswa per jenjang, 5 cabang, 12 bulan.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2960" y="244144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43000" y="239572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Biaya tahunan per jenjang: Rp50.000 x 20 x 5 x 12 = Rp60.000.000.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22960" y="294436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43000" y="289864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Jika ada 4 jenjang aktif, potensi biaya cetak menjadi Rp240.000.000 per tahun.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995160" y="1828800"/>
            <a:ext cx="3794760" cy="25603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CD34D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269480" y="205740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1500" b="1">
                <a:solidFill>
                  <a:srgbClr val="B45309"/>
                </a:solidFill>
                <a:latin typeface="DM Sans"/>
              </a:rPr>
              <a:t>Simulasi penghematan cetak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269480" y="2514600"/>
            <a:ext cx="205740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1250" b="1">
                <a:solidFill>
                  <a:srgbClr val="64748B"/>
                </a:solidFill>
                <a:latin typeface="DM Sans"/>
              </a:rPr>
              <a:t>Biaya/buku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235440" y="2514600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id-ID" sz="1250" b="1">
                <a:solidFill>
                  <a:srgbClr val="0F172A"/>
                </a:solidFill>
                <a:latin typeface="DM Sans"/>
              </a:rPr>
              <a:t>Rp50.000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269480" y="2843784"/>
            <a:ext cx="205740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1250" b="1">
                <a:solidFill>
                  <a:srgbClr val="64748B"/>
                </a:solidFill>
                <a:latin typeface="DM Sans"/>
              </a:rPr>
              <a:t>Siswa/jenjang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235440" y="2843784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id-ID" sz="1250" b="1">
                <a:solidFill>
                  <a:srgbClr val="0F172A"/>
                </a:solidFill>
                <a:latin typeface="DM Sans"/>
              </a:rPr>
              <a:t>20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269480" y="3172968"/>
            <a:ext cx="205740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1250" b="1">
                <a:solidFill>
                  <a:srgbClr val="64748B"/>
                </a:solidFill>
                <a:latin typeface="DM Sans"/>
              </a:rPr>
              <a:t>Cabang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235440" y="3172968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id-ID" sz="1250" b="1">
                <a:solidFill>
                  <a:srgbClr val="0F172A"/>
                </a:solidFill>
                <a:latin typeface="DM Sans"/>
              </a:rPr>
              <a:t>5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269480" y="3502152"/>
            <a:ext cx="205740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1250" b="1">
                <a:solidFill>
                  <a:srgbClr val="64748B"/>
                </a:solidFill>
                <a:latin typeface="DM Sans"/>
              </a:rPr>
              <a:t>Bulan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235440" y="3502152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id-ID" sz="1250" b="1">
                <a:solidFill>
                  <a:srgbClr val="0F172A"/>
                </a:solidFill>
                <a:latin typeface="DM Sans"/>
              </a:rPr>
              <a:t>12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269480" y="3831336"/>
            <a:ext cx="205740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1250" b="1">
                <a:solidFill>
                  <a:srgbClr val="64748B"/>
                </a:solidFill>
                <a:latin typeface="DM Sans"/>
              </a:rPr>
              <a:t>Total/jenjang/tahun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235440" y="3831336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id-ID" sz="1250" b="1">
                <a:solidFill>
                  <a:srgbClr val="0F172A"/>
                </a:solidFill>
                <a:latin typeface="DM Sans"/>
              </a:rPr>
              <a:t>Rp60.000.000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77240" y="5212080"/>
            <a:ext cx="10607040" cy="5943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txBody>
          <a:bodyPr wrap="square"/>
          <a:lstStyle/>
          <a:p>
            <a:pPr algn="ctr"/>
            <a:r>
              <a:rPr lang="id-ID" sz="1650" b="1">
                <a:solidFill>
                  <a:srgbClr val="B45309"/>
                </a:solidFill>
                <a:latin typeface="DM Sans"/>
              </a:rPr>
              <a:t>Ini baru biaya cetak. Belum termasuk waktu guru, koreksi, penyimpanan, kehilangan buku, dan rekap manual.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012680" y="589788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id-ID" sz="1050" b="0">
                <a:solidFill>
                  <a:srgbClr val="64748B"/>
                </a:solidFill>
                <a:latin typeface="DM Sans"/>
              </a:rPr>
              <a:t>11/17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2920" y="310896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1500" b="1">
                <a:solidFill>
                  <a:srgbClr val="F59E0B"/>
                </a:solidFill>
                <a:latin typeface="DM Sans"/>
              </a:rPr>
              <a:t>SIAGA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2920" y="621792"/>
            <a:ext cx="9875520" cy="56692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950" b="1">
                <a:solidFill>
                  <a:srgbClr val="0F172A"/>
                </a:solidFill>
                <a:latin typeface="DM Sans"/>
              </a:rPr>
              <a:t>Membaca Biaya SIAGA sebagai Investasi</a:t>
            </a:r>
          </a:p>
        </p:txBody>
      </p:sp>
      <p:cxnSp>
        <p:nvCxnSpPr>
          <p:cNvPr id="13" name="Line 13"/>
          <p:cNvCxnSpPr/>
          <p:nvPr/>
        </p:nvCxnSpPr>
        <p:spPr>
          <a:xfrm>
            <a:off x="502920" y="1207008"/>
            <a:ext cx="10972800" cy="0"/>
          </a:xfrm>
          <a:prstGeom prst="line">
            <a:avLst/>
          </a:prstGeom>
          <a:ln w="12700">
            <a:solidFill>
              <a:srgbClr val="E2E8F0"/>
            </a:solidFill>
          </a:ln>
        </p:spPr>
      </p:cxnSp>
      <p:pic>
        <p:nvPicPr>
          <p:cNvPr id="4" name="t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28600"/>
            <a:ext cx="1508760" cy="50292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822960" y="143560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3000" y="138988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Biaya awal aplikasi adalah investasi sistem, bukan biaya habis pakai.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2960" y="193852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3000" y="189280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Biaya server/perawatan adalah biaya menjaga layanan tetap online, aman, dan terawat.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2960" y="244144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43000" y="239572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Return tidak hanya dari penghematan cetak, tetapi dari efisiensi staff, kualitas layanan wali, dan data yang bisa diaudit.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22960" y="294436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43000" y="289864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Semakin banyak cabang dan siswa, biaya per siswa semakin rendah.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012680" y="589788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id-ID" sz="1050" b="0">
                <a:solidFill>
                  <a:srgbClr val="64748B"/>
                </a:solidFill>
                <a:latin typeface="DM Sans"/>
              </a:rPr>
              <a:t>12/17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2920" y="310896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1500" b="1">
                <a:solidFill>
                  <a:srgbClr val="F59E0B"/>
                </a:solidFill>
                <a:latin typeface="DM Sans"/>
              </a:rPr>
              <a:t>SIAGA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2920" y="621792"/>
            <a:ext cx="9875520" cy="56692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950" b="1">
                <a:solidFill>
                  <a:srgbClr val="0F172A"/>
                </a:solidFill>
                <a:latin typeface="DM Sans"/>
              </a:rPr>
              <a:t>Rencana Adopsi Bertahap</a:t>
            </a:r>
          </a:p>
        </p:txBody>
      </p:sp>
      <p:cxnSp>
        <p:nvCxnSpPr>
          <p:cNvPr id="13" name="Line 13"/>
          <p:cNvCxnSpPr/>
          <p:nvPr/>
        </p:nvCxnSpPr>
        <p:spPr>
          <a:xfrm>
            <a:off x="502920" y="1207008"/>
            <a:ext cx="10972800" cy="0"/>
          </a:xfrm>
          <a:prstGeom prst="line">
            <a:avLst/>
          </a:prstGeom>
          <a:ln w="12700">
            <a:solidFill>
              <a:srgbClr val="E2E8F0"/>
            </a:solidFill>
          </a:ln>
        </p:spPr>
      </p:cxnSp>
      <p:pic>
        <p:nvPicPr>
          <p:cNvPr id="4" name="t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28600"/>
            <a:ext cx="1508760" cy="50292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822960" y="143560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3000" y="138988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Tahap 1: pilot 1 cabang dan 1-2 rombel untuk daily record + absensi.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2960" y="193852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3000" y="189280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Tahap 2: perluas ke seluruh rombel dan aktifkan portal wali.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2960" y="244144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43000" y="239572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Tahap 3: aktifkan billing, invoice, monitoring kepsek, dan audit operasional.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22960" y="294436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43000" y="289864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Tahap 4: evaluasi KPI bulanan dan standarisasi SOP antar cabang.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77240" y="5212080"/>
            <a:ext cx="10607040" cy="5943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txBody>
          <a:bodyPr wrap="square"/>
          <a:lstStyle/>
          <a:p>
            <a:pPr algn="ctr"/>
            <a:r>
              <a:rPr lang="id-ID" sz="1650" b="1">
                <a:solidFill>
                  <a:srgbClr val="B45309"/>
                </a:solidFill>
                <a:latin typeface="DM Sans"/>
              </a:rPr>
              <a:t>Adopsi tidak harus sekaligus besar. Yang penting alurnya dikunci dan dipakai konsisten.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012680" y="589788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id-ID" sz="1050" b="0">
                <a:solidFill>
                  <a:srgbClr val="64748B"/>
                </a:solidFill>
                <a:latin typeface="DM Sans"/>
              </a:rPr>
              <a:t>13/17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2920" y="310896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1500" b="1">
                <a:solidFill>
                  <a:srgbClr val="F59E0B"/>
                </a:solidFill>
                <a:latin typeface="DM Sans"/>
              </a:rPr>
              <a:t>SIAGA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2920" y="621792"/>
            <a:ext cx="9875520" cy="56692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950" b="1">
                <a:solidFill>
                  <a:srgbClr val="0F172A"/>
                </a:solidFill>
                <a:latin typeface="DM Sans"/>
              </a:rPr>
              <a:t>KPI Keberhasilan 90 Hari</a:t>
            </a:r>
          </a:p>
        </p:txBody>
      </p:sp>
      <p:cxnSp>
        <p:nvCxnSpPr>
          <p:cNvPr id="13" name="Line 13"/>
          <p:cNvCxnSpPr/>
          <p:nvPr/>
        </p:nvCxnSpPr>
        <p:spPr>
          <a:xfrm>
            <a:off x="502920" y="1207008"/>
            <a:ext cx="10972800" cy="0"/>
          </a:xfrm>
          <a:prstGeom prst="line">
            <a:avLst/>
          </a:prstGeom>
          <a:ln w="12700">
            <a:solidFill>
              <a:srgbClr val="E2E8F0"/>
            </a:solidFill>
          </a:ln>
        </p:spPr>
      </p:cxnSp>
      <p:pic>
        <p:nvPicPr>
          <p:cNvPr id="4" name="t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28600"/>
            <a:ext cx="1508760" cy="50292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822960" y="143560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3000" y="138988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Minimal 90% daily record published tepat waktu.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2960" y="193852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3000" y="189280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Pengurangan pembelian buku daily record hard copy untuk kelas pilot.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2960" y="244144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43000" y="239572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Waktu rekap absensi dan laporan berkurang signifikan.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22960" y="294436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43000" y="289864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Jumlah komplain/pertanyaan wali tentang laporan anak menurun.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22960" y="344728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43000" y="340156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Kepala sekolah dapat melihat status harian tanpa menunggu rekap manual.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012680" y="589788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id-ID" sz="1050" b="0">
                <a:solidFill>
                  <a:srgbClr val="64748B"/>
                </a:solidFill>
                <a:latin typeface="DM Sans"/>
              </a:rPr>
              <a:t>14/17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2920" y="310896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1500" b="1">
                <a:solidFill>
                  <a:srgbClr val="F59E0B"/>
                </a:solidFill>
                <a:latin typeface="DM Sans"/>
              </a:rPr>
              <a:t>SIAGA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2920" y="621792"/>
            <a:ext cx="9875520" cy="56692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950" b="1">
                <a:solidFill>
                  <a:srgbClr val="0F172A"/>
                </a:solidFill>
                <a:latin typeface="DM Sans"/>
              </a:rPr>
              <a:t>Keberatan yang Wajar, Jawaban yang Tegas</a:t>
            </a:r>
          </a:p>
        </p:txBody>
      </p:sp>
      <p:cxnSp>
        <p:nvCxnSpPr>
          <p:cNvPr id="13" name="Line 13"/>
          <p:cNvCxnSpPr/>
          <p:nvPr/>
        </p:nvCxnSpPr>
        <p:spPr>
          <a:xfrm>
            <a:off x="502920" y="1207008"/>
            <a:ext cx="10972800" cy="0"/>
          </a:xfrm>
          <a:prstGeom prst="line">
            <a:avLst/>
          </a:prstGeom>
          <a:ln w="12700">
            <a:solidFill>
              <a:srgbClr val="E2E8F0"/>
            </a:solidFill>
          </a:ln>
        </p:spPr>
      </p:cxnSp>
      <p:pic>
        <p:nvPicPr>
          <p:cNvPr id="4" name="t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28600"/>
            <a:ext cx="1508760" cy="50292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822960" y="143560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3000" y="138988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“Biaya awal besar” → benar, tapi biaya manual berulang juga besar dan tidak membangun aset sistem.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2960" y="193852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3000" y="189280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“Guru akan repot” → pilot dan template Focus Theme mengurangi repetisi; guru tidak mulai dari kertas kosong.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2960" y="244144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43000" y="239572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“Data anak aman?” → akses dibatasi role, cabang, rombel, dan wali-anak.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22960" y="294436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43000" y="289864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“Kalau internet mati?” → SOP fallback tetap perlu; setelah online, data dirapikan kembali.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012680" y="589788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id-ID" sz="1050" b="0">
                <a:solidFill>
                  <a:srgbClr val="64748B"/>
                </a:solidFill>
                <a:latin typeface="DM Sans"/>
              </a:rPr>
              <a:t>15/17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2920" y="310896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1500" b="1">
                <a:solidFill>
                  <a:srgbClr val="F59E0B"/>
                </a:solidFill>
                <a:latin typeface="DM Sans"/>
              </a:rPr>
              <a:t>SIAGA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2920" y="621792"/>
            <a:ext cx="9875520" cy="56692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950" b="1">
                <a:solidFill>
                  <a:srgbClr val="0F172A"/>
                </a:solidFill>
                <a:latin typeface="DM Sans"/>
              </a:rPr>
              <a:t>Pertanyaan yang Perlu Dikunci</a:t>
            </a:r>
          </a:p>
        </p:txBody>
      </p:sp>
      <p:cxnSp>
        <p:nvCxnSpPr>
          <p:cNvPr id="13" name="Line 13"/>
          <p:cNvCxnSpPr/>
          <p:nvPr/>
        </p:nvCxnSpPr>
        <p:spPr>
          <a:xfrm>
            <a:off x="502920" y="1207008"/>
            <a:ext cx="10972800" cy="0"/>
          </a:xfrm>
          <a:prstGeom prst="line">
            <a:avLst/>
          </a:prstGeom>
          <a:ln w="12700">
            <a:solidFill>
              <a:srgbClr val="E2E8F0"/>
            </a:solidFill>
          </a:ln>
        </p:spPr>
      </p:cxnSp>
      <p:pic>
        <p:nvPicPr>
          <p:cNvPr id="4" name="t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28600"/>
            <a:ext cx="1508760" cy="50292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822960" y="143560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3000" y="138988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Berapa jumlah jenjang aktif yang benar untuk proyeksi ROI?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2960" y="193852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3000" y="189280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Berapa rata-rata siswa per jenjang per cabang saat ini?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2960" y="244144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43000" y="239572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Apakah buku daily record benar dibeli bulanan atau per periode lain?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22960" y="294436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43000" y="289864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Fitur mana yang paling mendesak untuk pilot: daily record, absensi, gerbang, atau billing?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22960" y="344728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43000" y="340156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Siapa PIC sekolah untuk training, SOP, dan evaluasi 90 hari?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77240" y="5212080"/>
            <a:ext cx="10607040" cy="5943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txBody>
          <a:bodyPr wrap="square"/>
          <a:lstStyle/>
          <a:p>
            <a:pPr algn="ctr"/>
            <a:r>
              <a:rPr lang="id-ID" sz="1650" b="1">
                <a:solidFill>
                  <a:srgbClr val="B45309"/>
                </a:solidFill>
                <a:latin typeface="DM Sans"/>
              </a:rPr>
              <a:t>Grill point: tanpa angka operasional yang jelas, sekolah akan menilai SIAGA sebagai biaya. Dengan angka jelas, SIAGA menjadi keputusan investasi.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012680" y="589788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id-ID" sz="1050" b="0">
                <a:solidFill>
                  <a:srgbClr val="64748B"/>
                </a:solidFill>
                <a:latin typeface="DM Sans"/>
              </a:rPr>
              <a:t>16/17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2920" y="310896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1500" b="1">
                <a:solidFill>
                  <a:srgbClr val="F59E0B"/>
                </a:solidFill>
                <a:latin typeface="DM Sans"/>
              </a:rPr>
              <a:t>SIAGA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2920" y="621792"/>
            <a:ext cx="9875520" cy="56692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950" b="1">
                <a:solidFill>
                  <a:srgbClr val="0F172A"/>
                </a:solidFill>
                <a:latin typeface="DM Sans"/>
              </a:rPr>
              <a:t>Keputusan yang Diminta</a:t>
            </a:r>
          </a:p>
        </p:txBody>
      </p:sp>
      <p:cxnSp>
        <p:nvCxnSpPr>
          <p:cNvPr id="13" name="Line 13"/>
          <p:cNvCxnSpPr/>
          <p:nvPr/>
        </p:nvCxnSpPr>
        <p:spPr>
          <a:xfrm>
            <a:off x="502920" y="1207008"/>
            <a:ext cx="10972800" cy="0"/>
          </a:xfrm>
          <a:prstGeom prst="line">
            <a:avLst/>
          </a:prstGeom>
          <a:ln w="12700">
            <a:solidFill>
              <a:srgbClr val="E2E8F0"/>
            </a:solidFill>
          </a:ln>
        </p:spPr>
      </p:cxnSp>
      <p:pic>
        <p:nvPicPr>
          <p:cNvPr id="4" name="t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28600"/>
            <a:ext cx="1508760" cy="50292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822960" y="143560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3000" y="138988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Setujui pilot SIAGA untuk cabang/rombel yang dipilih.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2960" y="193852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3000" y="189280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Tentukan scope fitur pilot dan PIC implementasi.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2960" y="244144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43000" y="239572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Kunci baseline biaya manual dan target penghematan.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22960" y="2944368"/>
            <a:ext cx="164592" cy="1645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/>
          <a:lstStyle/>
          <a:p>
            <a:pPr/>
            <a:r>
              <a:rPr lang="id-ID" sz="2400" b="0">
                <a:solidFill>
                  <a:srgbClr val="0F172A"/>
                </a:solidFill>
                <a:latin typeface="DM Sans"/>
              </a:rPr>
              <a:t/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43000" y="2898648"/>
            <a:ext cx="101041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id-ID" sz="2050" b="0">
                <a:solidFill>
                  <a:srgbClr val="334155"/>
                </a:solidFill>
                <a:latin typeface="DM Sans"/>
              </a:rPr>
              <a:t>Evaluasi hasil 90 hari sebelum rollout penuh.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77240" y="5212080"/>
            <a:ext cx="10607040" cy="5943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txBody>
          <a:bodyPr wrap="square"/>
          <a:lstStyle/>
          <a:p>
            <a:pPr algn="ctr"/>
            <a:r>
              <a:rPr lang="id-ID" sz="1650" b="1">
                <a:solidFill>
                  <a:srgbClr val="B45309"/>
                </a:solidFill>
                <a:latin typeface="DM Sans"/>
              </a:rPr>
              <a:t>Rekomendasi: mulai pilot terukur, bukan menunggu semua proses sempurna.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012680" y="589788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id-ID" sz="1050" b="0">
                <a:solidFill>
                  <a:srgbClr val="64748B"/>
                </a:solidFill>
                <a:latin typeface="DM Sans"/>
              </a:rPr>
              <a:t>17/17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AGA">
  <a:themeElements>
    <a:clrScheme name="SIAGA">
      <a:dk1>
        <a:srgbClr val="0F172A"/>
      </a:dk1>
      <a:lt1>
        <a:srgbClr val="FFFFFF"/>
      </a:lt1>
      <a:dk2>
        <a:srgbClr val="334155"/>
      </a:dk2>
      <a:lt2>
        <a:srgbClr val="F8FAFC"/>
      </a:lt2>
      <a:accent1>
        <a:srgbClr val="F59E0B"/>
      </a:accent1>
      <a:accent2>
        <a:srgbClr val="2563EB"/>
      </a:accent2>
      <a:accent3>
        <a:srgbClr val="059669"/>
      </a:accent3>
      <a:accent4>
        <a:srgbClr val="DC2626"/>
      </a:accent4>
      <a:accent5>
        <a:srgbClr val="B45309"/>
      </a:accent5>
      <a:accent6>
        <a:srgbClr val="64748B"/>
      </a:accent6>
      <a:hlink>
        <a:srgbClr val="2563EB"/>
      </a:hlink>
      <a:folHlink>
        <a:srgbClr val="7C3AED"/>
      </a:folHlink>
    </a:clrScheme>
    <a:fontScheme name="DM Sans">
      <a:majorFont>
        <a:latin typeface="DM Sans"/>
      </a:majorFont>
      <a:minorFont>
        <a:latin typeface="DM Sans"/>
      </a:minorFont>
    </a:fontScheme>
    <a:fmtScheme name="SIAGA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 OpenXML Generator</Application>
  <PresentationFormat>Widescreen</PresentationFormat>
  <Slides>17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SIAGA School Adoption Pitch</dc:title>
  <dc:creator>Codex</dc:creator>
  <cp:lastModifiedBy>Codex</cp:lastModifiedBy>
  <dcterms:created xsi:type="dcterms:W3CDTF">2026-06-01T21:38:18Z</dcterms:created>
  <dcterms:modified xsi:type="dcterms:W3CDTF">2026-06-01T21:38:18Z</dcterms:modified>
</cp:coreProperties>
</file>